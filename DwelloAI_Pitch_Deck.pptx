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B6B5B">
              <a:alpha val="4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114800"/>
            <a:ext cx="5486400" cy="5486400"/>
          </a:xfrm>
          <a:prstGeom prst="ellipse">
            <a:avLst/>
          </a:prstGeom>
          <a:solidFill>
            <a:srgbClr val="0B6B5B">
              <a:alpha val="3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82296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822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DWELLO·AI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DwelloAI</a:t>
            </a:r>
            <a:endParaRPr lang="en-US" sz="86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F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real estate.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next home — faster, smarter, simpler.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943600"/>
            <a:ext cx="1097280" cy="0"/>
          </a:xfrm>
          <a:prstGeom prst="line">
            <a:avLst/>
          </a:prstGeom>
          <a:noFill/>
          <a:ln w="25400">
            <a:solidFill>
              <a:srgbClr val="F4A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SwiftUI · MVVM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095" y="6035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Bakdaulet Yeskermes  · 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51215" y="1463040"/>
            <a:ext cx="3108960" cy="4937760"/>
          </a:xfrm>
          <a:prstGeom prst="roundRect">
            <a:avLst>
              <a:gd name="adj" fmla="val 6471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24367" y="1536192"/>
            <a:ext cx="2962656" cy="479145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48495" y="155448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4367" y="1536192"/>
            <a:ext cx="2962656" cy="1371600"/>
          </a:xfrm>
          <a:prstGeom prst="rect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07247" y="203911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Bakdaulet!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07247" y="231343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dream home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07247" y="2679192"/>
            <a:ext cx="25968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2862072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73007" y="2834640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Almaty · 2 rooms · under 30M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716975" y="3136392"/>
            <a:ext cx="914400" cy="274320"/>
          </a:xfrm>
          <a:prstGeom prst="roundRect">
            <a:avLst>
              <a:gd name="adj" fmla="val 33333"/>
            </a:avLst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16975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607247" y="3685032"/>
            <a:ext cx="259689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698687" y="3776472"/>
            <a:ext cx="868680" cy="914400"/>
          </a:xfrm>
          <a:prstGeom prst="roundRect">
            <a:avLst>
              <a:gd name="adj" fmla="val 8421"/>
            </a:avLst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287" y="3959352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658807" y="3822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Cozy Studio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9658807" y="40690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Almaty · 38m²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9658807" y="43982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22 000 000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8607247" y="4919472"/>
            <a:ext cx="2596896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698687" y="5010912"/>
            <a:ext cx="868680" cy="914400"/>
          </a:xfrm>
          <a:prstGeom prst="roundRect">
            <a:avLst>
              <a:gd name="adj" fmla="val 8421"/>
            </a:avLst>
          </a:prstGeom>
          <a:solidFill>
            <a:srgbClr val="D8E5DF"/>
          </a:solidFill>
          <a:ln w="12700">
            <a:solidFill>
              <a:srgbClr val="DCE5E0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287" y="5193792"/>
            <a:ext cx="411480" cy="4114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658807" y="50566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Loft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9658807" y="5303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· 64m²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9658807" y="56327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38 500 000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365760" cy="36576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Searching for a home shouldn't feel like a second job.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3108960"/>
            <a:ext cx="3520440" cy="3017520"/>
          </a:xfrm>
          <a:prstGeom prst="roundRect">
            <a:avLst>
              <a:gd name="adj" fmla="val 424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520440"/>
            <a:ext cx="777240" cy="77724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6576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4480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slow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3000" y="49834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scrolling through endless listings that don't match.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80560" y="3108960"/>
            <a:ext cx="3520440" cy="3017520"/>
          </a:xfrm>
          <a:prstGeom prst="roundRect">
            <a:avLst>
              <a:gd name="adj" fmla="val 424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46320" y="3520440"/>
            <a:ext cx="777240" cy="77724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36576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4480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Confusing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846320" y="49834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filters, scattered details, unclear pricing.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83880" y="3108960"/>
            <a:ext cx="3520440" cy="3017520"/>
          </a:xfrm>
          <a:prstGeom prst="roundRect">
            <a:avLst>
              <a:gd name="adj" fmla="val 424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549640" y="3520440"/>
            <a:ext cx="777240" cy="77724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6576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4480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Overwhelming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8549640" y="49834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sources — no single place to compare.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B6B5B">
              <a:alpha val="3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77240"/>
            <a:ext cx="365760" cy="36576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 AI what you want.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finds your home.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7673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36210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 match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00200" y="396849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rough idea to relevant listings in seconds.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" y="4526280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63600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44897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Understands intent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00200" y="48371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— no filters required.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77240" y="5394960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5046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5358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00200" y="57058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budget, area, and lifestyle preferences.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321040" y="1188720"/>
            <a:ext cx="3108960" cy="4937760"/>
          </a:xfrm>
          <a:prstGeom prst="roundRect">
            <a:avLst>
              <a:gd name="adj" fmla="val 6471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94192" y="1261872"/>
            <a:ext cx="2962656" cy="4791456"/>
          </a:xfrm>
          <a:prstGeom prst="roundRect">
            <a:avLst>
              <a:gd name="adj" fmla="val 5556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418320" y="128016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94192" y="1261872"/>
            <a:ext cx="2962656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4630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97112" y="14264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577072" y="2130552"/>
            <a:ext cx="21945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668512" y="213055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What are you looking for?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759952" y="2770632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851392" y="27706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2-room apartment in Almaty under 30M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577072" y="3547872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668512" y="35478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12 great matches for you.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8577072" y="4233672"/>
            <a:ext cx="841248" cy="292608"/>
          </a:xfrm>
          <a:prstGeom prst="roundRect">
            <a:avLst>
              <a:gd name="adj" fmla="val 46875"/>
            </a:avLst>
          </a:prstGeom>
          <a:solidFill>
            <a:srgbClr val="FFE6C8"/>
          </a:solidFill>
          <a:ln w="6350">
            <a:solidFill>
              <a:srgbClr val="F4A34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577072" y="423367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Almaty · 2 rooms</a:t>
            </a:r>
            <a:endParaRPr lang="en-US" sz="700" dirty="0"/>
          </a:p>
        </p:txBody>
      </p:sp>
      <p:sp>
        <p:nvSpPr>
          <p:cNvPr id="32" name="Shape 26"/>
          <p:cNvSpPr/>
          <p:nvPr/>
        </p:nvSpPr>
        <p:spPr>
          <a:xfrm>
            <a:off x="9482328" y="4233672"/>
            <a:ext cx="841248" cy="292608"/>
          </a:xfrm>
          <a:prstGeom prst="roundRect">
            <a:avLst>
              <a:gd name="adj" fmla="val 46875"/>
            </a:avLst>
          </a:prstGeom>
          <a:solidFill>
            <a:srgbClr val="FFE6C8"/>
          </a:solidFill>
          <a:ln w="6350">
            <a:solidFill>
              <a:srgbClr val="F4A34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482328" y="423367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30M</a:t>
            </a:r>
            <a:endParaRPr lang="en-US" sz="700" dirty="0"/>
          </a:p>
        </p:txBody>
      </p:sp>
      <p:sp>
        <p:nvSpPr>
          <p:cNvPr id="34" name="Shape 28"/>
          <p:cNvSpPr/>
          <p:nvPr/>
        </p:nvSpPr>
        <p:spPr>
          <a:xfrm>
            <a:off x="10387584" y="4233672"/>
            <a:ext cx="841248" cy="292608"/>
          </a:xfrm>
          <a:prstGeom prst="roundRect">
            <a:avLst>
              <a:gd name="adj" fmla="val 46875"/>
            </a:avLst>
          </a:prstGeom>
          <a:solidFill>
            <a:srgbClr val="FFE6C8"/>
          </a:solidFill>
          <a:ln w="6350">
            <a:solidFill>
              <a:srgbClr val="F4A34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387584" y="423367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</a:t>
            </a:r>
            <a:endParaRPr lang="en-US" sz="700" dirty="0"/>
          </a:p>
        </p:txBody>
      </p:sp>
      <p:sp>
        <p:nvSpPr>
          <p:cNvPr id="36" name="Shape 30"/>
          <p:cNvSpPr/>
          <p:nvPr/>
        </p:nvSpPr>
        <p:spPr>
          <a:xfrm>
            <a:off x="8577072" y="4690872"/>
            <a:ext cx="2596896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668512" y="4782312"/>
            <a:ext cx="1005840" cy="1051560"/>
          </a:xfrm>
          <a:prstGeom prst="roundRect">
            <a:avLst>
              <a:gd name="adj" fmla="val 7273"/>
            </a:avLst>
          </a:prstGeom>
          <a:solidFill>
            <a:srgbClr val="B8D4CB"/>
          </a:solidFill>
          <a:ln w="12700">
            <a:solidFill>
              <a:srgbClr val="B8D4CB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112" y="5056632"/>
            <a:ext cx="457200" cy="4572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765792" y="4828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2BR · Almaty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9765792" y="50566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64m² · 5/12 floor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9765792" y="5422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28 500 000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365760" cy="36576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MAIN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 in one app.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468880"/>
            <a:ext cx="640080" cy="64008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57860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verified listings for sale.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93592" y="219456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67912" y="2468880"/>
            <a:ext cx="640080" cy="64008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57860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67912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867912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&amp; short term rentals.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9944" y="219456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684264" y="2468880"/>
            <a:ext cx="640080" cy="64008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57860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84264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684264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listing in minutes.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226296" y="219456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00616" y="2468880"/>
            <a:ext cx="640080" cy="64008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257860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00616" y="32186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Favorites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500616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revisit promising homes.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77240" y="4416552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51560" y="4690872"/>
            <a:ext cx="640080" cy="64008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800600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Filters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051560" y="5833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price, rooms, area &amp; more.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593592" y="4416552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867912" y="4690872"/>
            <a:ext cx="640080" cy="64008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7640" y="4800600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867912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800" dirty="0"/>
          </a:p>
        </p:txBody>
      </p:sp>
      <p:sp>
        <p:nvSpPr>
          <p:cNvPr id="34" name="Text 26"/>
          <p:cNvSpPr/>
          <p:nvPr/>
        </p:nvSpPr>
        <p:spPr>
          <a:xfrm>
            <a:off x="3867912" y="5833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typing what you want.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409944" y="4416552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684264" y="4690872"/>
            <a:ext cx="640080" cy="64008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4800600"/>
            <a:ext cx="420624" cy="4206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684264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Chats</a:t>
            </a:r>
            <a:endParaRPr lang="en-US" sz="1800" dirty="0"/>
          </a:p>
        </p:txBody>
      </p:sp>
      <p:sp>
        <p:nvSpPr>
          <p:cNvPr id="39" name="Text 30"/>
          <p:cNvSpPr/>
          <p:nvPr/>
        </p:nvSpPr>
        <p:spPr>
          <a:xfrm>
            <a:off x="6684264" y="5833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sellers and the AI.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9226296" y="4416552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500616" y="4690872"/>
            <a:ext cx="640080" cy="64008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0344" y="4800600"/>
            <a:ext cx="420624" cy="42062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500616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View</a:t>
            </a:r>
            <a:endParaRPr lang="en-US" sz="1800" dirty="0"/>
          </a:p>
        </p:txBody>
      </p:sp>
      <p:sp>
        <p:nvSpPr>
          <p:cNvPr id="44" name="Text 34"/>
          <p:cNvSpPr/>
          <p:nvPr/>
        </p:nvSpPr>
        <p:spPr>
          <a:xfrm>
            <a:off x="9500616" y="58338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homes on an interactive map.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6400800" cy="6400800"/>
          </a:xfrm>
          <a:prstGeom prst="ellipse">
            <a:avLst/>
          </a:prstGeom>
          <a:solidFill>
            <a:srgbClr val="0B6B5B">
              <a:alpha val="35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77240"/>
            <a:ext cx="365760" cy="36576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AI ASSISTANT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type.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does the rest.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input. Instant property recommendations tailored to budget, city, rooms, area and lifestyle.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PROMPTS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4526280"/>
            <a:ext cx="2711196" cy="384048"/>
          </a:xfrm>
          <a:prstGeom prst="roundRect">
            <a:avLst>
              <a:gd name="adj" fmla="val 50000"/>
            </a:avLst>
          </a:prstGeom>
          <a:solidFill>
            <a:srgbClr val="0B6B5B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526280"/>
            <a:ext cx="27111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in Almaty under 30M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3028" y="4526280"/>
            <a:ext cx="2633472" cy="384048"/>
          </a:xfrm>
          <a:prstGeom prst="roundRect">
            <a:avLst>
              <a:gd name="adj" fmla="val 50000"/>
            </a:avLst>
          </a:prstGeom>
          <a:solidFill>
            <a:srgbClr val="0B6B5B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3028" y="4526280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in Astana for a family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502920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0B6B5B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2920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in Shymkent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98064" y="5029200"/>
            <a:ext cx="2167128" cy="384048"/>
          </a:xfrm>
          <a:prstGeom prst="roundRect">
            <a:avLst>
              <a:gd name="adj" fmla="val 50000"/>
            </a:avLst>
          </a:prstGeom>
          <a:solidFill>
            <a:srgbClr val="0B6B5B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5029200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2-room near the centre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5532120"/>
            <a:ext cx="2322576" cy="384048"/>
          </a:xfrm>
          <a:prstGeom prst="roundRect">
            <a:avLst>
              <a:gd name="adj" fmla="val 50000"/>
            </a:avLst>
          </a:prstGeom>
          <a:solidFill>
            <a:srgbClr val="0B6B5B"/>
          </a:solidFill>
          <a:ln w="9525">
            <a:solidFill>
              <a:srgbClr val="F4A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32120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a student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321040" y="1188720"/>
            <a:ext cx="3108960" cy="4937760"/>
          </a:xfrm>
          <a:prstGeom prst="roundRect">
            <a:avLst>
              <a:gd name="adj" fmla="val 6471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4192" y="1261872"/>
            <a:ext cx="2962656" cy="4791456"/>
          </a:xfrm>
          <a:prstGeom prst="roundRect">
            <a:avLst>
              <a:gd name="adj" fmla="val 5556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128016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94192" y="1261872"/>
            <a:ext cx="296265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7072" y="1444752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897112" y="1399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577072" y="2084832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68512" y="20848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I'll help you find the perfect place.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759952" y="2862072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851392" y="286207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in Astana under 60M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577072" y="3547872"/>
            <a:ext cx="246888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668512" y="35478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8 great matches…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77072" y="4187952"/>
            <a:ext cx="25968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68512" y="4261104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384" y="4389120"/>
            <a:ext cx="438912" cy="43891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445752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House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9445752" y="44988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· 140m²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9445752" y="47000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55 000 000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8577072" y="5102352"/>
            <a:ext cx="2596896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8668512" y="5175504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D8E5DF"/>
          </a:solidFill>
          <a:ln w="12700">
            <a:solidFill>
              <a:srgbClr val="DCE5E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4" y="5303520"/>
            <a:ext cx="438912" cy="43891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9445752" y="51937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Suburb Villa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9445752" y="54132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Astana · 180m²</a:t>
            </a:r>
            <a:endParaRPr lang="en-US" sz="700" dirty="0"/>
          </a:p>
        </p:txBody>
      </p:sp>
      <p:sp>
        <p:nvSpPr>
          <p:cNvPr id="41" name="Text 36"/>
          <p:cNvSpPr/>
          <p:nvPr/>
        </p:nvSpPr>
        <p:spPr>
          <a:xfrm>
            <a:off x="9445752" y="56144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58 000 000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365760" cy="36576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APP SCREENS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feel calm, fast, and focused.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09448" y="2011680"/>
            <a:ext cx="1691640" cy="3657600"/>
          </a:xfrm>
          <a:prstGeom prst="roundRect">
            <a:avLst>
              <a:gd name="adj" fmla="val 11892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2600" y="2084832"/>
            <a:ext cx="1545336" cy="3511296"/>
          </a:xfrm>
          <a:prstGeom prst="roundRect">
            <a:avLst>
              <a:gd name="adj" fmla="val 10651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068" y="210312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2600" y="2084832"/>
            <a:ext cx="15453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600" y="21945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92328" y="2724912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5480" y="2862072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home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92328" y="3502152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5480" y="3593592"/>
            <a:ext cx="1179576" cy="411480"/>
          </a:xfrm>
          <a:prstGeom prst="roundRect">
            <a:avLst>
              <a:gd name="adj" fmla="val 11111"/>
            </a:avLst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480" y="400507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· 38m²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865480" y="416052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22M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92328" y="4507992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5480" y="4599432"/>
            <a:ext cx="1179576" cy="411480"/>
          </a:xfrm>
          <a:prstGeom prst="roundRect">
            <a:avLst>
              <a:gd name="adj" fmla="val 11111"/>
            </a:avLst>
          </a:prstGeom>
          <a:solidFill>
            <a:srgbClr val="D8E5D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480" y="501091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2BR · 64m²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865480" y="5166360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38M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465680" y="2011680"/>
            <a:ext cx="1691640" cy="3657600"/>
          </a:xfrm>
          <a:prstGeom prst="roundRect">
            <a:avLst>
              <a:gd name="adj" fmla="val 11892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38832" y="2084832"/>
            <a:ext cx="1545336" cy="3511296"/>
          </a:xfrm>
          <a:prstGeom prst="roundRect">
            <a:avLst>
              <a:gd name="adj" fmla="val 10651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54300" y="210312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38832" y="2084832"/>
            <a:ext cx="15453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38832" y="21945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Results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48560" y="2770632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03424" y="284378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5488" y="283464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1BR · A.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215488" y="300837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28m²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3215488" y="3154680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18M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648560" y="3483864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03424" y="355701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D8E5D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15488" y="354787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2BR · A.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215488" y="3721608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64m²</a:t>
            </a:r>
            <a:endParaRPr lang="en-US" sz="500" dirty="0"/>
          </a:p>
        </p:txBody>
      </p:sp>
      <p:sp>
        <p:nvSpPr>
          <p:cNvPr id="34" name="Text 32"/>
          <p:cNvSpPr/>
          <p:nvPr/>
        </p:nvSpPr>
        <p:spPr>
          <a:xfrm>
            <a:off x="3215488" y="386791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32M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2648560" y="4197096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03424" y="427024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15488" y="426110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 · A.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215488" y="4434840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120m²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3215488" y="4581144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48M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648560" y="4910328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03424" y="49834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D8E5D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15488" y="497433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 · A.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3215488" y="5148072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32m²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3215488" y="529437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16M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4321912" y="2011680"/>
            <a:ext cx="1691640" cy="3657600"/>
          </a:xfrm>
          <a:prstGeom prst="roundRect">
            <a:avLst>
              <a:gd name="adj" fmla="val 11892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95064" y="2084832"/>
            <a:ext cx="1545336" cy="3511296"/>
          </a:xfrm>
          <a:prstGeom prst="roundRect">
            <a:avLst>
              <a:gd name="adj" fmla="val 10651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10532" y="210312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95064" y="2084832"/>
            <a:ext cx="15453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95064" y="21945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Details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04792" y="2724912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B8D4CB"/>
          </a:solidFill>
          <a:ln w="12700">
            <a:solidFill>
              <a:srgbClr val="B8D4CB"/>
            </a:solidFill>
            <a:prstDash val="solid"/>
          </a:ln>
        </p:spPr>
      </p:sp>
      <p:pic>
        <p:nvPicPr>
          <p:cNvPr id="5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3412" y="3044952"/>
            <a:ext cx="502920" cy="502920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4559656" y="3867912"/>
            <a:ext cx="1216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2BR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559656" y="409651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Almaty · 64m² · 5/12</a:t>
            </a:r>
            <a:endParaRPr lang="en-US" sz="600" dirty="0"/>
          </a:p>
        </p:txBody>
      </p:sp>
      <p:sp>
        <p:nvSpPr>
          <p:cNvPr id="54" name="Text 51"/>
          <p:cNvSpPr/>
          <p:nvPr/>
        </p:nvSpPr>
        <p:spPr>
          <a:xfrm>
            <a:off x="4559656" y="432511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₸ 32 000 000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04792" y="4690872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E5EDE9"/>
          </a:solidFill>
          <a:ln w="6350">
            <a:solidFill>
              <a:srgbClr val="DCE5E0"/>
            </a:solidFill>
            <a:prstDash val="solid"/>
          </a:ln>
        </p:spPr>
      </p:sp>
      <p:pic>
        <p:nvPicPr>
          <p:cNvPr id="5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572" y="4828032"/>
            <a:ext cx="274320" cy="274320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6178144" y="2011680"/>
            <a:ext cx="1691640" cy="3657600"/>
          </a:xfrm>
          <a:prstGeom prst="roundRect">
            <a:avLst>
              <a:gd name="adj" fmla="val 11892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251296" y="2084832"/>
            <a:ext cx="1545336" cy="3511296"/>
          </a:xfrm>
          <a:prstGeom prst="roundRect">
            <a:avLst>
              <a:gd name="adj" fmla="val 10651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6566764" y="210312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251296" y="2084832"/>
            <a:ext cx="15453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251296" y="21945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Favorites</a:t>
            </a:r>
            <a:endParaRPr lang="en-US" sz="900" dirty="0"/>
          </a:p>
        </p:txBody>
      </p:sp>
      <p:sp>
        <p:nvSpPr>
          <p:cNvPr id="62" name="Shape 58"/>
          <p:cNvSpPr/>
          <p:nvPr/>
        </p:nvSpPr>
        <p:spPr>
          <a:xfrm>
            <a:off x="6361024" y="277063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6415888" y="2862072"/>
            <a:ext cx="1216152" cy="365760"/>
          </a:xfrm>
          <a:prstGeom prst="roundRect">
            <a:avLst>
              <a:gd name="adj" fmla="val 12500"/>
            </a:avLst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434176" y="3246120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Loft</a:t>
            </a:r>
            <a:endParaRPr lang="en-US" sz="600" dirty="0"/>
          </a:p>
        </p:txBody>
      </p:sp>
      <p:sp>
        <p:nvSpPr>
          <p:cNvPr id="65" name="Shape 61"/>
          <p:cNvSpPr/>
          <p:nvPr/>
        </p:nvSpPr>
        <p:spPr>
          <a:xfrm>
            <a:off x="7412584" y="3273552"/>
            <a:ext cx="201168" cy="201168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6361024" y="363931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6415888" y="3730752"/>
            <a:ext cx="1216152" cy="365760"/>
          </a:xfrm>
          <a:prstGeom prst="roundRect">
            <a:avLst>
              <a:gd name="adj" fmla="val 12500"/>
            </a:avLst>
          </a:prstGeom>
          <a:solidFill>
            <a:srgbClr val="D8E5D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6434176" y="4114800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Studio</a:t>
            </a:r>
            <a:endParaRPr lang="en-US" sz="600" dirty="0"/>
          </a:p>
        </p:txBody>
      </p:sp>
      <p:sp>
        <p:nvSpPr>
          <p:cNvPr id="69" name="Shape 65"/>
          <p:cNvSpPr/>
          <p:nvPr/>
        </p:nvSpPr>
        <p:spPr>
          <a:xfrm>
            <a:off x="7412584" y="4142232"/>
            <a:ext cx="201168" cy="201168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6361024" y="450799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6415888" y="4599432"/>
            <a:ext cx="1216152" cy="365760"/>
          </a:xfrm>
          <a:prstGeom prst="roundRect">
            <a:avLst>
              <a:gd name="adj" fmla="val 12500"/>
            </a:avLst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6434176" y="4983480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</a:t>
            </a:r>
            <a:endParaRPr lang="en-US" sz="600" dirty="0"/>
          </a:p>
        </p:txBody>
      </p:sp>
      <p:sp>
        <p:nvSpPr>
          <p:cNvPr id="73" name="Shape 69"/>
          <p:cNvSpPr/>
          <p:nvPr/>
        </p:nvSpPr>
        <p:spPr>
          <a:xfrm>
            <a:off x="7412584" y="5010912"/>
            <a:ext cx="201168" cy="201168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8034376" y="2011680"/>
            <a:ext cx="1691640" cy="3657600"/>
          </a:xfrm>
          <a:prstGeom prst="roundRect">
            <a:avLst>
              <a:gd name="adj" fmla="val 11892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8107528" y="2084832"/>
            <a:ext cx="1545336" cy="3511296"/>
          </a:xfrm>
          <a:prstGeom prst="roundRect">
            <a:avLst>
              <a:gd name="adj" fmla="val 10651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422996" y="210312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8107528" y="2084832"/>
            <a:ext cx="15453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8107528" y="21945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</a:t>
            </a:r>
            <a:endParaRPr lang="en-US" sz="900" dirty="0"/>
          </a:p>
        </p:txBody>
      </p:sp>
      <p:sp>
        <p:nvSpPr>
          <p:cNvPr id="79" name="Shape 75"/>
          <p:cNvSpPr/>
          <p:nvPr/>
        </p:nvSpPr>
        <p:spPr>
          <a:xfrm>
            <a:off x="8496148" y="2816352"/>
            <a:ext cx="777240" cy="77724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8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596" y="2953512"/>
            <a:ext cx="457200" cy="457200"/>
          </a:xfrm>
          <a:prstGeom prst="rect">
            <a:avLst/>
          </a:prstGeom>
        </p:spPr>
      </p:pic>
      <p:sp>
        <p:nvSpPr>
          <p:cNvPr id="81" name="Text 76"/>
          <p:cNvSpPr/>
          <p:nvPr/>
        </p:nvSpPr>
        <p:spPr>
          <a:xfrm>
            <a:off x="8272120" y="3685032"/>
            <a:ext cx="1216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Bakdaulet Y.</a:t>
            </a:r>
            <a:endParaRPr lang="en-US" sz="900" dirty="0"/>
          </a:p>
        </p:txBody>
      </p:sp>
      <p:sp>
        <p:nvSpPr>
          <p:cNvPr id="82" name="Text 77"/>
          <p:cNvSpPr/>
          <p:nvPr/>
        </p:nvSpPr>
        <p:spPr>
          <a:xfrm>
            <a:off x="8272120" y="391363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bakdaulet@dwello.ai</a:t>
            </a:r>
            <a:endParaRPr lang="en-US" sz="600" dirty="0"/>
          </a:p>
        </p:txBody>
      </p:sp>
      <p:sp>
        <p:nvSpPr>
          <p:cNvPr id="83" name="Shape 78"/>
          <p:cNvSpPr/>
          <p:nvPr/>
        </p:nvSpPr>
        <p:spPr>
          <a:xfrm>
            <a:off x="8217256" y="4279392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84" name="Text 79"/>
          <p:cNvSpPr/>
          <p:nvPr/>
        </p:nvSpPr>
        <p:spPr>
          <a:xfrm>
            <a:off x="8308696" y="42793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Listings</a:t>
            </a:r>
            <a:endParaRPr lang="en-US" sz="700" dirty="0"/>
          </a:p>
        </p:txBody>
      </p:sp>
      <p:sp>
        <p:nvSpPr>
          <p:cNvPr id="85" name="Shape 80"/>
          <p:cNvSpPr/>
          <p:nvPr/>
        </p:nvSpPr>
        <p:spPr>
          <a:xfrm>
            <a:off x="8217256" y="4608576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86" name="Text 81"/>
          <p:cNvSpPr/>
          <p:nvPr/>
        </p:nvSpPr>
        <p:spPr>
          <a:xfrm>
            <a:off x="8308696" y="460857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</a:t>
            </a:r>
            <a:endParaRPr lang="en-US" sz="700" dirty="0"/>
          </a:p>
        </p:txBody>
      </p:sp>
      <p:sp>
        <p:nvSpPr>
          <p:cNvPr id="87" name="Shape 82"/>
          <p:cNvSpPr/>
          <p:nvPr/>
        </p:nvSpPr>
        <p:spPr>
          <a:xfrm>
            <a:off x="8217256" y="493776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88" name="Text 83"/>
          <p:cNvSpPr/>
          <p:nvPr/>
        </p:nvSpPr>
        <p:spPr>
          <a:xfrm>
            <a:off x="8308696" y="49377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700" dirty="0"/>
          </a:p>
        </p:txBody>
      </p:sp>
      <p:sp>
        <p:nvSpPr>
          <p:cNvPr id="89" name="Shape 84"/>
          <p:cNvSpPr/>
          <p:nvPr/>
        </p:nvSpPr>
        <p:spPr>
          <a:xfrm>
            <a:off x="8217256" y="5266944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90" name="Text 85"/>
          <p:cNvSpPr/>
          <p:nvPr/>
        </p:nvSpPr>
        <p:spPr>
          <a:xfrm>
            <a:off x="8308696" y="52669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</a:t>
            </a:r>
            <a:endParaRPr lang="en-US" sz="700" dirty="0"/>
          </a:p>
        </p:txBody>
      </p:sp>
      <p:sp>
        <p:nvSpPr>
          <p:cNvPr id="91" name="Shape 86"/>
          <p:cNvSpPr/>
          <p:nvPr/>
        </p:nvSpPr>
        <p:spPr>
          <a:xfrm>
            <a:off x="9890608" y="2011680"/>
            <a:ext cx="1691640" cy="3657600"/>
          </a:xfrm>
          <a:prstGeom prst="roundRect">
            <a:avLst>
              <a:gd name="adj" fmla="val 11892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9963760" y="2084832"/>
            <a:ext cx="1545336" cy="3511296"/>
          </a:xfrm>
          <a:prstGeom prst="roundRect">
            <a:avLst>
              <a:gd name="adj" fmla="val 10651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10279228" y="2103120"/>
            <a:ext cx="914400" cy="164592"/>
          </a:xfrm>
          <a:prstGeom prst="roundRect">
            <a:avLst>
              <a:gd name="adj" fmla="val 50000"/>
            </a:avLst>
          </a:prstGeom>
          <a:solidFill>
            <a:srgbClr val="0A1A17"/>
          </a:solidFill>
          <a:ln w="12700">
            <a:solidFill>
              <a:srgbClr val="0A1A17"/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9963760" y="2084832"/>
            <a:ext cx="154533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Text 90"/>
          <p:cNvSpPr/>
          <p:nvPr/>
        </p:nvSpPr>
        <p:spPr>
          <a:xfrm>
            <a:off x="9963760" y="219456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Chats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10073488" y="2770632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10128352" y="2889504"/>
            <a:ext cx="365760" cy="365760"/>
          </a:xfrm>
          <a:prstGeom prst="ellipse">
            <a:avLst/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98" name="Text 93"/>
          <p:cNvSpPr/>
          <p:nvPr/>
        </p:nvSpPr>
        <p:spPr>
          <a:xfrm>
            <a:off x="10128352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700" dirty="0"/>
          </a:p>
        </p:txBody>
      </p:sp>
      <p:sp>
        <p:nvSpPr>
          <p:cNvPr id="99" name="Text 94"/>
          <p:cNvSpPr/>
          <p:nvPr/>
        </p:nvSpPr>
        <p:spPr>
          <a:xfrm>
            <a:off x="10567264" y="284378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650" dirty="0"/>
          </a:p>
        </p:txBody>
      </p:sp>
      <p:sp>
        <p:nvSpPr>
          <p:cNvPr id="100" name="Text 95"/>
          <p:cNvSpPr/>
          <p:nvPr/>
        </p:nvSpPr>
        <p:spPr>
          <a:xfrm>
            <a:off x="10567264" y="3026664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8 matches…</a:t>
            </a:r>
            <a:endParaRPr lang="en-US" sz="550" dirty="0"/>
          </a:p>
        </p:txBody>
      </p:sp>
      <p:sp>
        <p:nvSpPr>
          <p:cNvPr id="101" name="Text 96"/>
          <p:cNvSpPr/>
          <p:nvPr/>
        </p:nvSpPr>
        <p:spPr>
          <a:xfrm>
            <a:off x="11179912" y="28346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500" dirty="0"/>
          </a:p>
        </p:txBody>
      </p:sp>
      <p:sp>
        <p:nvSpPr>
          <p:cNvPr id="102" name="Shape 97"/>
          <p:cNvSpPr/>
          <p:nvPr/>
        </p:nvSpPr>
        <p:spPr>
          <a:xfrm>
            <a:off x="10073488" y="3483864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10128352" y="3602736"/>
            <a:ext cx="365760" cy="365760"/>
          </a:xfrm>
          <a:prstGeom prst="ellipse">
            <a:avLst/>
          </a:prstGeom>
          <a:solidFill>
            <a:srgbClr val="DCE5E0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04" name="Text 99"/>
          <p:cNvSpPr/>
          <p:nvPr/>
        </p:nvSpPr>
        <p:spPr>
          <a:xfrm>
            <a:off x="10128352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</a:t>
            </a:r>
            <a:endParaRPr lang="en-US" sz="700" dirty="0"/>
          </a:p>
        </p:txBody>
      </p:sp>
      <p:sp>
        <p:nvSpPr>
          <p:cNvPr id="105" name="Text 100"/>
          <p:cNvSpPr/>
          <p:nvPr/>
        </p:nvSpPr>
        <p:spPr>
          <a:xfrm>
            <a:off x="10567264" y="355701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Anastasia</a:t>
            </a:r>
            <a:endParaRPr lang="en-US" sz="650" dirty="0"/>
          </a:p>
        </p:txBody>
      </p:sp>
      <p:sp>
        <p:nvSpPr>
          <p:cNvPr id="106" name="Text 101"/>
          <p:cNvSpPr/>
          <p:nvPr/>
        </p:nvSpPr>
        <p:spPr>
          <a:xfrm>
            <a:off x="10567264" y="3739896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still available?</a:t>
            </a:r>
            <a:endParaRPr lang="en-US" sz="550" dirty="0"/>
          </a:p>
        </p:txBody>
      </p:sp>
      <p:sp>
        <p:nvSpPr>
          <p:cNvPr id="107" name="Text 102"/>
          <p:cNvSpPr/>
          <p:nvPr/>
        </p:nvSpPr>
        <p:spPr>
          <a:xfrm>
            <a:off x="11179912" y="3547872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</a:t>
            </a:r>
            <a:endParaRPr lang="en-US" sz="500" dirty="0"/>
          </a:p>
        </p:txBody>
      </p:sp>
      <p:sp>
        <p:nvSpPr>
          <p:cNvPr id="108" name="Shape 103"/>
          <p:cNvSpPr/>
          <p:nvPr/>
        </p:nvSpPr>
        <p:spPr>
          <a:xfrm>
            <a:off x="10073488" y="4197096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10128352" y="4315968"/>
            <a:ext cx="365760" cy="365760"/>
          </a:xfrm>
          <a:prstGeom prst="ellipse">
            <a:avLst/>
          </a:prstGeom>
          <a:solidFill>
            <a:srgbClr val="B8D4C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10" name="Text 105"/>
          <p:cNvSpPr/>
          <p:nvPr/>
        </p:nvSpPr>
        <p:spPr>
          <a:xfrm>
            <a:off x="10128352" y="4315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MK</a:t>
            </a:r>
            <a:endParaRPr lang="en-US" sz="700" dirty="0"/>
          </a:p>
        </p:txBody>
      </p:sp>
      <p:sp>
        <p:nvSpPr>
          <p:cNvPr id="111" name="Text 106"/>
          <p:cNvSpPr/>
          <p:nvPr/>
        </p:nvSpPr>
        <p:spPr>
          <a:xfrm>
            <a:off x="10567264" y="4270248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Magzhan</a:t>
            </a:r>
            <a:endParaRPr lang="en-US" sz="650" dirty="0"/>
          </a:p>
        </p:txBody>
      </p:sp>
      <p:sp>
        <p:nvSpPr>
          <p:cNvPr id="112" name="Text 107"/>
          <p:cNvSpPr/>
          <p:nvPr/>
        </p:nvSpPr>
        <p:spPr>
          <a:xfrm>
            <a:off x="10567264" y="4453128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tomorrow?</a:t>
            </a:r>
            <a:endParaRPr lang="en-US" sz="550" dirty="0"/>
          </a:p>
        </p:txBody>
      </p:sp>
      <p:sp>
        <p:nvSpPr>
          <p:cNvPr id="113" name="Text 108"/>
          <p:cNvSpPr/>
          <p:nvPr/>
        </p:nvSpPr>
        <p:spPr>
          <a:xfrm>
            <a:off x="11179912" y="42611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500" dirty="0"/>
          </a:p>
        </p:txBody>
      </p:sp>
      <p:sp>
        <p:nvSpPr>
          <p:cNvPr id="114" name="Shape 109"/>
          <p:cNvSpPr/>
          <p:nvPr/>
        </p:nvSpPr>
        <p:spPr>
          <a:xfrm>
            <a:off x="10073488" y="4910328"/>
            <a:ext cx="13258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10128352" y="5029200"/>
            <a:ext cx="365760" cy="365760"/>
          </a:xfrm>
          <a:prstGeom prst="ellipse">
            <a:avLst/>
          </a:prstGeom>
          <a:solidFill>
            <a:srgbClr val="D8E5DF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16" name="Text 111"/>
          <p:cNvSpPr/>
          <p:nvPr/>
        </p:nvSpPr>
        <p:spPr>
          <a:xfrm>
            <a:off x="10128352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RZ</a:t>
            </a:r>
            <a:endParaRPr lang="en-US" sz="700" dirty="0"/>
          </a:p>
        </p:txBody>
      </p:sp>
      <p:sp>
        <p:nvSpPr>
          <p:cNvPr id="117" name="Text 112"/>
          <p:cNvSpPr/>
          <p:nvPr/>
        </p:nvSpPr>
        <p:spPr>
          <a:xfrm>
            <a:off x="10567264" y="498348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Ruslan</a:t>
            </a:r>
            <a:endParaRPr lang="en-US" sz="650" dirty="0"/>
          </a:p>
        </p:txBody>
      </p:sp>
      <p:sp>
        <p:nvSpPr>
          <p:cNvPr id="118" name="Text 113"/>
          <p:cNvSpPr/>
          <p:nvPr/>
        </p:nvSpPr>
        <p:spPr>
          <a:xfrm>
            <a:off x="10567264" y="5166360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docs</a:t>
            </a:r>
            <a:endParaRPr lang="en-US" sz="550" dirty="0"/>
          </a:p>
        </p:txBody>
      </p:sp>
      <p:sp>
        <p:nvSpPr>
          <p:cNvPr id="119" name="Text 114"/>
          <p:cNvSpPr/>
          <p:nvPr/>
        </p:nvSpPr>
        <p:spPr>
          <a:xfrm>
            <a:off x="11179912" y="497433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</a:t>
            </a:r>
            <a:endParaRPr lang="en-US" sz="500" dirty="0"/>
          </a:p>
        </p:txBody>
      </p:sp>
      <p:sp>
        <p:nvSpPr>
          <p:cNvPr id="120" name="Text 115"/>
          <p:cNvSpPr/>
          <p:nvPr/>
        </p:nvSpPr>
        <p:spPr>
          <a:xfrm>
            <a:off x="609448" y="5852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121" name="Text 116"/>
          <p:cNvSpPr/>
          <p:nvPr/>
        </p:nvSpPr>
        <p:spPr>
          <a:xfrm>
            <a:off x="2465680" y="5852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</a:t>
            </a:r>
            <a:endParaRPr lang="en-US" sz="1100" dirty="0"/>
          </a:p>
        </p:txBody>
      </p:sp>
      <p:sp>
        <p:nvSpPr>
          <p:cNvPr id="122" name="Text 117"/>
          <p:cNvSpPr/>
          <p:nvPr/>
        </p:nvSpPr>
        <p:spPr>
          <a:xfrm>
            <a:off x="4321912" y="5852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100" dirty="0"/>
          </a:p>
        </p:txBody>
      </p:sp>
      <p:sp>
        <p:nvSpPr>
          <p:cNvPr id="123" name="Text 118"/>
          <p:cNvSpPr/>
          <p:nvPr/>
        </p:nvSpPr>
        <p:spPr>
          <a:xfrm>
            <a:off x="6178144" y="5852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1100" dirty="0"/>
          </a:p>
        </p:txBody>
      </p:sp>
      <p:sp>
        <p:nvSpPr>
          <p:cNvPr id="124" name="Text 119"/>
          <p:cNvSpPr/>
          <p:nvPr/>
        </p:nvSpPr>
        <p:spPr>
          <a:xfrm>
            <a:off x="8034376" y="5852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125" name="Text 120"/>
          <p:cNvSpPr/>
          <p:nvPr/>
        </p:nvSpPr>
        <p:spPr>
          <a:xfrm>
            <a:off x="9890608" y="5852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365760" cy="36576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USER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steps. No friction.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40962" y="4160520"/>
            <a:ext cx="8509772" cy="0"/>
          </a:xfrm>
          <a:prstGeom prst="line">
            <a:avLst/>
          </a:prstGeom>
          <a:noFill/>
          <a:ln w="38100">
            <a:solidFill>
              <a:srgbClr val="F4A3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29482" y="3749040"/>
            <a:ext cx="822960" cy="82296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362" y="3931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71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app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480060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a personal home feed.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56925" y="3749040"/>
            <a:ext cx="822960" cy="82296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05" y="39319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41843" y="2971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041843" y="333756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041843" y="480060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filters or just type to the AI.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84368" y="3749040"/>
            <a:ext cx="822960" cy="82296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39319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9286" y="2971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5169286" y="333756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169286" y="480060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the best matches.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811811" y="3749040"/>
            <a:ext cx="822960" cy="82296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691" y="393192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96729" y="2971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296729" y="333756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296729" y="480060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details, map, owner.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9939254" y="3749040"/>
            <a:ext cx="822960" cy="822960"/>
          </a:xfrm>
          <a:prstGeom prst="ellipse">
            <a:avLst/>
          </a:prstGeom>
          <a:solidFill>
            <a:srgbClr val="01332B"/>
          </a:solidFill>
          <a:ln w="12700">
            <a:solidFill>
              <a:srgbClr val="01332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134" y="39319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24172" y="2971800"/>
            <a:ext cx="185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9424172" y="3337560"/>
            <a:ext cx="185312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/ Chat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424172" y="4800600"/>
            <a:ext cx="185312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it or contact the seller.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365760" cy="36576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34440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DESIGN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Calm, premium, distinctly DwelloAI.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468880"/>
            <a:ext cx="1234440" cy="1554480"/>
          </a:xfrm>
          <a:prstGeom prst="roundRect">
            <a:avLst>
              <a:gd name="adj" fmla="val 7407"/>
            </a:avLst>
          </a:prstGeom>
          <a:solidFill>
            <a:srgbClr val="01332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Forest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#01332B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468880"/>
            <a:ext cx="1234440" cy="1554480"/>
          </a:xfrm>
          <a:prstGeom prst="roundRect">
            <a:avLst>
              <a:gd name="adj" fmla="val 7407"/>
            </a:avLst>
          </a:prstGeom>
          <a:solidFill>
            <a:srgbClr val="0B6B5B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4343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#0B6B5B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11880" y="2468880"/>
            <a:ext cx="1234440" cy="1554480"/>
          </a:xfrm>
          <a:prstGeom prst="roundRect">
            <a:avLst>
              <a:gd name="adj" fmla="val 7407"/>
            </a:avLst>
          </a:prstGeom>
          <a:solidFill>
            <a:srgbClr val="F4A340"/>
          </a:solidFill>
          <a:ln w="12700">
            <a:solidFill>
              <a:srgbClr val="DC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4343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#F4A340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468880"/>
            <a:ext cx="1234440" cy="1554480"/>
          </a:xfrm>
          <a:prstGeom prst="roundRect">
            <a:avLst>
              <a:gd name="adj" fmla="val 7407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069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43434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#F4F7F5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2468880"/>
            <a:ext cx="4617720" cy="1554480"/>
          </a:xfrm>
          <a:prstGeom prst="roundRect">
            <a:avLst>
              <a:gd name="adj" fmla="val 7059"/>
            </a:avLst>
          </a:prstGeom>
          <a:solidFill>
            <a:srgbClr val="F4F7F5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5146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Poppins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21040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SemiBold · Medium · Regular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· Headings · Body · Captions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2578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5257800"/>
            <a:ext cx="73152" cy="118872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349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51560" y="5806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whitespace, soft contrast.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80560" y="52578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5257800"/>
            <a:ext cx="73152" cy="118872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5349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54880" y="5806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per screen, big tap targets.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83880" y="5257800"/>
            <a:ext cx="3520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6350">
            <a:solidFill>
              <a:srgbClr val="DCE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83880" y="5257800"/>
            <a:ext cx="73152" cy="1188720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5349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Trusted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458200" y="5806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photos, honest prices, full details.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6400800" cy="6400800"/>
          </a:xfrm>
          <a:prstGeom prst="ellipse">
            <a:avLst/>
          </a:prstGeom>
          <a:solidFill>
            <a:srgbClr val="0B6B5B">
              <a:alpha val="35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77240"/>
            <a:ext cx="365760" cy="36576"/>
          </a:xfrm>
          <a:prstGeom prst="rect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4A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TECHNOLOGIES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143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native iOS, end to end.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3520440" cy="1965960"/>
          </a:xfrm>
          <a:prstGeom prst="roundRect">
            <a:avLst>
              <a:gd name="adj" fmla="val 6512"/>
            </a:avLst>
          </a:prstGeom>
          <a:solidFill>
            <a:srgbClr val="0B6B5B">
              <a:alpha val="5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377440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48716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SwiftUI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74520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UI · iOS 17+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62272" y="2103120"/>
            <a:ext cx="3520440" cy="1965960"/>
          </a:xfrm>
          <a:prstGeom prst="roundRect">
            <a:avLst>
              <a:gd name="adj" fmla="val 6512"/>
            </a:avLst>
          </a:prstGeom>
          <a:solidFill>
            <a:srgbClr val="0B6B5B">
              <a:alpha val="5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36592" y="2377440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48716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59552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MVVM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559552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testable architecture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47304" y="2103120"/>
            <a:ext cx="3520440" cy="1965960"/>
          </a:xfrm>
          <a:prstGeom prst="roundRect">
            <a:avLst>
              <a:gd name="adj" fmla="val 6512"/>
            </a:avLst>
          </a:prstGeom>
          <a:solidFill>
            <a:srgbClr val="0B6B5B">
              <a:alpha val="5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21624" y="2377440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248716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44584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JSON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9244584" y="28803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data via Bundle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77240" y="4270248"/>
            <a:ext cx="3520440" cy="1965960"/>
          </a:xfrm>
          <a:prstGeom prst="roundRect">
            <a:avLst>
              <a:gd name="adj" fmla="val 6512"/>
            </a:avLst>
          </a:prstGeom>
          <a:solidFill>
            <a:srgbClr val="0B6B5B">
              <a:alpha val="5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51560" y="4544568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654296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874520" y="45902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1874520" y="50474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data pipelines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462272" y="4270248"/>
            <a:ext cx="3520440" cy="1965960"/>
          </a:xfrm>
          <a:prstGeom prst="roundRect">
            <a:avLst>
              <a:gd name="adj" fmla="val 6512"/>
            </a:avLst>
          </a:prstGeom>
          <a:solidFill>
            <a:srgbClr val="0B6B5B">
              <a:alpha val="5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36592" y="4544568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654296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59552" y="45902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Localization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5559552" y="50474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Russian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47304" y="4270248"/>
            <a:ext cx="3520440" cy="1965960"/>
          </a:xfrm>
          <a:prstGeom prst="roundRect">
            <a:avLst>
              <a:gd name="adj" fmla="val 6512"/>
            </a:avLst>
          </a:prstGeom>
          <a:solidFill>
            <a:srgbClr val="0B6B5B">
              <a:alpha val="5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21624" y="4544568"/>
            <a:ext cx="640080" cy="640080"/>
          </a:xfrm>
          <a:prstGeom prst="ellipse">
            <a:avLst/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4654296"/>
            <a:ext cx="420624" cy="42062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44584" y="459028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 / Dark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9244584" y="5047488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manager · system aware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B6B5B">
              <a:alpha val="4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114800"/>
            <a:ext cx="6400800" cy="6400800"/>
          </a:xfrm>
          <a:prstGeom prst="ellipse">
            <a:avLst/>
          </a:prstGeom>
          <a:solidFill>
            <a:srgbClr val="0B6B5B">
              <a:alpha val="40000"/>
            </a:srgbClr>
          </a:solidFill>
          <a:ln w="12700">
            <a:solidFill>
              <a:srgbClr val="0B6B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90008" y="10972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4A340"/>
          </a:solidFill>
          <a:ln w="12700">
            <a:solidFill>
              <a:srgbClr val="F4A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90008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013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SEARCH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12772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Smarter. Faster. Easier.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A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DwelloAI brings AI to every step of finding a home.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547208" y="5806440"/>
            <a:ext cx="1097280" cy="0"/>
          </a:xfrm>
          <a:prstGeom prst="line">
            <a:avLst/>
          </a:prstGeom>
          <a:noFill/>
          <a:ln w="25400">
            <a:solidFill>
              <a:srgbClr val="F4A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AB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DwelloAI · Bakdaulet Yeskermes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DwelloAI — AI-powered real estate</dc:title>
  <dc:subject>PptxGenJS Presentation</dc:subject>
  <dc:creator>Bakdaulet Yeskermes</dc:creator>
  <cp:lastModifiedBy>Bakdaulet Yeskermes</cp:lastModifiedBy>
  <cp:revision>1</cp:revision>
  <dcterms:created xsi:type="dcterms:W3CDTF">2026-05-15T08:16:47Z</dcterms:created>
  <dcterms:modified xsi:type="dcterms:W3CDTF">2026-05-15T08:16:47Z</dcterms:modified>
</cp:coreProperties>
</file>